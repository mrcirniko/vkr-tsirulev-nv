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259" r:id="rId4"/>
    <p:sldId id="261" r:id="rId5"/>
    <p:sldId id="262" r:id="rId6"/>
    <p:sldId id="263" r:id="rId7"/>
    <p:sldId id="276" r:id="rId8"/>
    <p:sldId id="277" r:id="rId9"/>
    <p:sldId id="265" r:id="rId10"/>
    <p:sldId id="266" r:id="rId11"/>
    <p:sldId id="278" r:id="rId12"/>
    <p:sldId id="268" r:id="rId13"/>
    <p:sldId id="269" r:id="rId14"/>
    <p:sldId id="270" r:id="rId15"/>
    <p:sldId id="271" r:id="rId16"/>
    <p:sldId id="272" r:id="rId17"/>
    <p:sldId id="275" r:id="rId18"/>
    <p:sldId id="260" r:id="rId19"/>
    <p:sldId id="274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2155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B4E93-09C8-4657-9AE1-E207D92A3462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51E630-1A06-4B65-8509-713E93B703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78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094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32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640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D7D07-0564-4A47-AA84-8EF523C2E389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801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2302-0383-4AD1-9449-8797A7A73218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5A3789A-D406-449F-860F-117B58A45219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53111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9C46-2208-4326-B2F2-580AEF474A78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531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8C27-E1E2-4B89-8318-D50CE0BB87D4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34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C8A41-9D88-4F87-9C62-37D5804BE088}" type="datetime1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730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184BC-4182-4655-889A-9B0525A544CD}" type="datetime1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767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8B67E-82D6-4143-BB07-2516ACE40AF5}" type="datetime1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921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7820B-2673-43EF-8199-C82C44DB62A0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937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42FD7-A1F4-4DDE-AB85-A9215765061C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7059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72D43-09B3-4D62-92E3-360381D9C2F6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7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66904-3332-4021-8626-8C0397F396FE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8454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13D50-65F6-4088-BB37-A869858272C4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10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gif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230427"/>
            <a:ext cx="12192000" cy="2832100"/>
          </a:xfrm>
        </p:spPr>
        <p:txBody>
          <a:bodyPr>
            <a:normAutofit/>
          </a:bodyPr>
          <a:lstStyle/>
          <a:p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Выпускная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квалификационная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работа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бакалавра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тему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:</a:t>
            </a:r>
            <a:b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</a:br>
            <a:r>
              <a:rPr lang="ru-RU" altLang="en-GB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«</a:t>
            </a:r>
            <a:r>
              <a:rPr lang="ru-RU" altLang="en-US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Интеллектуальный агент для подготовки гражданско-правовых договоров</a:t>
            </a:r>
            <a:r>
              <a:rPr lang="ru-RU" altLang="en-GB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lang="ru-RU" altLang="en-GB" sz="4000" b="1" dirty="0"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008077" y="4486694"/>
            <a:ext cx="10175846" cy="2371306"/>
          </a:xfrm>
        </p:spPr>
        <p:txBody>
          <a:bodyPr>
            <a:normAutofit fontScale="92500" lnSpcReduction="1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ru-RU" sz="26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Студент группы 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М8О-40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8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Б-2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2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: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Цир</a:t>
            </a:r>
            <a:r>
              <a:rPr lang="ru-RU" sz="2600" b="1" dirty="0"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у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лев Николай Владимирович</a:t>
            </a:r>
            <a:endParaRPr lang="ru-RU" sz="2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Научный руководитель: </a:t>
            </a:r>
            <a:r>
              <a:rPr lang="ru-RU" altLang="en-US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д.т.н., профессор кафедры </a:t>
            </a:r>
            <a:r>
              <a:rPr lang="en-US" altLang="ru-RU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806</a:t>
            </a:r>
            <a:r>
              <a:rPr lang="ru-RU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В.А. Судаков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Москва – </a:t>
            </a:r>
            <a:r>
              <a:rPr lang="ru-RU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2026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334415" y="214740"/>
            <a:ext cx="9681445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Московский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авиационный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институт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(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национальный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исследовательский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университет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)</a:t>
            </a: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Институт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№8 «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Компьютерные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науки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и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прикладная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математика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lang="ru-RU"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Кафедра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№806 «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Вычислительная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математика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и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программирование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sz="16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35560" y="363220"/>
            <a:ext cx="998855" cy="95948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11015860" y="300354"/>
            <a:ext cx="998855" cy="10852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8345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302260"/>
            <a:ext cx="10515600" cy="1072515"/>
          </a:xfrm>
        </p:spPr>
        <p:txBody>
          <a:bodyPr>
            <a:normAutofit/>
          </a:bodyPr>
          <a:lstStyle/>
          <a:p>
            <a:r>
              <a:rPr lang="ru-RU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707264" y="1662868"/>
            <a:ext cx="10777471" cy="5096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темы настоящей выпускной квалификационной работы обусловлена массовой потребностью граждан в первичной правовой поддержке при подготовке договоров по бытовым сделкам и ограниченностью существующих программных решений, которые сводятся либо к шаблонным конструкторам без правовой оценки сделки, либо к универсальным языковым моделям, не привязанным к актуальной редакции законодательства</a:t>
            </a: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496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1590" y="174556"/>
            <a:ext cx="10515600" cy="1104265"/>
          </a:xfrm>
        </p:spPr>
        <p:txBody>
          <a:bodyPr>
            <a:normAutofit/>
          </a:bodyPr>
          <a:lstStyle/>
          <a:p>
            <a:r>
              <a:rPr lang="ru-RU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работы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438499" y="1278821"/>
            <a:ext cx="11315001" cy="47109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настоящей работы является разработка интеллектуального программного агента, осуществляющего по словесному описанию сделки подготовку проекта договора и юридических рекомендаций со ссылками на статьи нормативных правовых актов.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достижения поставленной цели в работе решаются следующие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Сформировать корпус нормативных правовых актов российского договорного права и реализовать поиск релевантных норм по словесному описанию сделки.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 реализовать интеллектуального агента, осуществляющего преобразование свободного описания сделки в проект договора и сопровождающие юридические рекомендации.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эмпирическую оценку качества поиска норм и внешнюю экспертную апробацию подготовленных системой артефактов с привлечением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экспертов.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659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 и </a:t>
            </a:r>
            <a:r>
              <a:rPr lang="ru-RU" sz="4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датасеты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00000" y="1500000"/>
            <a:ext cx="5400000" cy="50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модели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Инференс LLM: Gemma 4: 31b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Эмбеддер: ai-sage/Giga-Embeddings-instruct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Реранкер: Qwen/Qwen3-Reranker-0.6B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00000" y="1500000"/>
            <a:ext cx="5500000" cy="50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 нормативных актов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использованы следующие тексты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нормативно-правовых актов, загруженные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официального интернет-портала правовой информации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pravo.gov.ru: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ГК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РФ, часть 1 и 2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ЖК РФ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«О защите прав потребителей»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«О государственной регистрации недвижимости»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о потребительском кредите (займе)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955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1861204"/>
            <a:ext cx="5546561" cy="156833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5218388"/>
            <a:ext cx="4713784" cy="871559"/>
          </a:xfrm>
          <a:prstGeom prst="rect">
            <a:avLst/>
          </a:prstGeom>
        </p:spPr>
      </p:pic>
      <p:pic>
        <p:nvPicPr>
          <p:cNvPr id="9" name="Picture 10" descr="Picture background">
            <a:extLst>
              <a:ext uri="{FF2B5EF4-FFF2-40B4-BE49-F238E27FC236}">
                <a16:creationId xmlns="" xmlns:a16="http://schemas.microsoft.com/office/drawing/2014/main" id="{B618B53D-72D4-4F70-A118-A0D5D4C36E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988" b="36441"/>
          <a:stretch/>
        </p:blipFill>
        <p:spPr bwMode="auto">
          <a:xfrm>
            <a:off x="5945409" y="5345373"/>
            <a:ext cx="6036714" cy="1429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Picture background">
            <a:extLst>
              <a:ext uri="{FF2B5EF4-FFF2-40B4-BE49-F238E27FC236}">
                <a16:creationId xmlns="" xmlns:a16="http://schemas.microsoft.com/office/drawing/2014/main" id="{6DB18202-4FEF-4442-9A9B-948798D25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2529" y="365125"/>
            <a:ext cx="1881580" cy="24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="" xmlns:a16="http://schemas.microsoft.com/office/drawing/2014/main" id="{E2BA8196-8329-451F-9985-3818FC70BB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8521" y="3986784"/>
            <a:ext cx="1453602" cy="14536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233" y="359705"/>
            <a:ext cx="3895344" cy="66820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9418" y="1279140"/>
            <a:ext cx="3183159" cy="1164127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0512" y="2777125"/>
            <a:ext cx="5642065" cy="1209659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206322"/>
            <a:ext cx="4278908" cy="113905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3625440"/>
            <a:ext cx="4713784" cy="998683"/>
          </a:xfrm>
          <a:prstGeom prst="rect">
            <a:avLst/>
          </a:prstGeom>
        </p:spPr>
      </p:pic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0862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решения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27579" y="1856105"/>
            <a:ext cx="6136841" cy="4351338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630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Граф состояний агента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1000" y="1370000"/>
            <a:ext cx="10130000" cy="547000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63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Подсистема RAG: двухступенчатый поиск</a:t>
            </a:r>
          </a:p>
        </p:txBody>
      </p:sp>
      <p:sp>
        <p:nvSpPr>
          <p:cNvPr id="20" name="Block1"/>
          <p:cNvSpPr/>
          <p:nvPr/>
        </p:nvSpPr>
        <p:spPr>
          <a:xfrm>
            <a:off x="400000" y="1800000"/>
            <a:ext cx="2400000" cy="150000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Эмбеддер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Giga-Embeddings</a:t>
            </a:r>
          </a:p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top-80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кандидатов</a:t>
            </a:r>
          </a:p>
        </p:txBody>
      </p:sp>
      <p:sp>
        <p:nvSpPr>
          <p:cNvPr id="21" name="Arrow1"/>
          <p:cNvSpPr/>
          <p:nvPr/>
        </p:nvSpPr>
        <p:spPr>
          <a:xfrm>
            <a:off x="2850000" y="2400000"/>
            <a:ext cx="600000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Block2"/>
          <p:cNvSpPr/>
          <p:nvPr/>
        </p:nvSpPr>
        <p:spPr>
          <a:xfrm>
            <a:off x="3500000" y="1800000"/>
            <a:ext cx="2400000" cy="1500000"/>
          </a:xfrm>
          <a:prstGeom prst="round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Реранкер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Qwen3-Reranker-0.6B</a:t>
            </a:r>
          </a:p>
          <a:p>
            <a:pPr algn="ctr"/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reranking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top-30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2"/>
          <p:cNvSpPr/>
          <p:nvPr/>
        </p:nvSpPr>
        <p:spPr>
          <a:xfrm>
            <a:off x="5950000" y="2400000"/>
            <a:ext cx="600000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Block3"/>
          <p:cNvSpPr/>
          <p:nvPr/>
        </p:nvSpPr>
        <p:spPr>
          <a:xfrm>
            <a:off x="6600000" y="1800000"/>
            <a:ext cx="2400000" cy="1500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548235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LLM-фильтр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отсев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нерелевантных выбросов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3"/>
          <p:cNvSpPr/>
          <p:nvPr/>
        </p:nvSpPr>
        <p:spPr>
          <a:xfrm>
            <a:off x="9050000" y="2400000"/>
            <a:ext cx="600000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Block4"/>
          <p:cNvSpPr/>
          <p:nvPr/>
        </p:nvSpPr>
        <p:spPr>
          <a:xfrm>
            <a:off x="9700000" y="1800000"/>
            <a:ext cx="2200000" cy="1500000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Итоговая выдача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релевантные нормы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генерации</a:t>
            </a:r>
          </a:p>
        </p:txBody>
      </p:sp>
      <p:sp>
        <p:nvSpPr>
          <p:cNvPr id="30" name="ParamsBox"/>
          <p:cNvSpPr txBox="1"/>
          <p:nvPr/>
        </p:nvSpPr>
        <p:spPr>
          <a:xfrm>
            <a:off x="500000" y="3700000"/>
            <a:ext cx="11200000" cy="28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Параметры 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Размерность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векторов эмбеддера — 2048; режим инференса bfloat16; мера близости — косинусная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разделён на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коллекции Qdrant: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general, primal, secondary;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Запрос формулируется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LLM, для эмбеддера обёртывается в инструкцию-промпт (instruction-tuned режим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Giga-Embeddings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Гиперпараметры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подсистемы (наличие реранкера, наличие LLM-фильтра, глубина выдачи k) подобраны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эмпирически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Номер слайда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20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955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параметров </a:t>
            </a:r>
            <a:r>
              <a:rPr 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28116" y="5529142"/>
            <a:ext cx="66873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Сравнительный анализ конфигураций двухступенчатого поиска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времени отклика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 метрикам качества ранжирования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классификации типа договора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(значения метрик 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процентах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latency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в миллисекундах)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71599"/>
            <a:ext cx="6867144" cy="4157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5260" y="1371599"/>
            <a:ext cx="412546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#1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</a:t>
            </a:r>
            <a:r>
              <a:rPr lang="ru-RU" dirty="0"/>
              <a:t>без </a:t>
            </a:r>
            <a:r>
              <a:rPr lang="ru-RU" dirty="0" err="1"/>
              <a:t>реранкера</a:t>
            </a:r>
            <a:r>
              <a:rPr lang="ru-RU" dirty="0"/>
              <a:t> и без </a:t>
            </a:r>
            <a:r>
              <a:rPr lang="en-US" dirty="0"/>
              <a:t>LLM-</a:t>
            </a:r>
            <a:r>
              <a:rPr lang="ru-RU" dirty="0"/>
              <a:t>фильтра.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#2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/>
              <a:t>BAAI/bge-reranker-v2-m3.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#3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/>
              <a:t>BAAI/bge-reranker-v2-m3 + LLM-</a:t>
            </a:r>
            <a:r>
              <a:rPr lang="ru-RU" dirty="0" smtClean="0"/>
              <a:t>фильтр.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#4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 err="1"/>
              <a:t>Qwen</a:t>
            </a:r>
            <a:r>
              <a:rPr lang="en-US" dirty="0"/>
              <a:t>/Qwen3-Reranker-0.6B.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#5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 err="1"/>
              <a:t>Qwen</a:t>
            </a:r>
            <a:r>
              <a:rPr lang="en-US" dirty="0"/>
              <a:t>/Qwen3-Reranker-0.6B + LLM-</a:t>
            </a:r>
            <a:r>
              <a:rPr lang="ru-RU" dirty="0"/>
              <a:t>фильтр.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параметров </a:t>
            </a:r>
            <a:r>
              <a:rPr 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2" r="66116"/>
          <a:stretch/>
        </p:blipFill>
        <p:spPr>
          <a:xfrm>
            <a:off x="2020824" y="1690688"/>
            <a:ext cx="3563112" cy="2558870"/>
          </a:xfrm>
        </p:spPr>
      </p:pic>
      <p:pic>
        <p:nvPicPr>
          <p:cNvPr id="7" name="Объект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38" t="6841"/>
          <a:stretch/>
        </p:blipFill>
        <p:spPr>
          <a:xfrm>
            <a:off x="6766560" y="1690688"/>
            <a:ext cx="3508248" cy="26053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56816" y="4480560"/>
            <a:ext cx="362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Зависимость точности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precision@k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итоговой конфигурации от глубины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07124" y="4480560"/>
            <a:ext cx="362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Зависимость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доли попаданий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hit@k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итоговой конфигурации от глубины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839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Методология экспертной апробации</a:t>
            </a:r>
          </a:p>
        </p:txBody>
      </p:sp>
      <p:sp>
        <p:nvSpPr>
          <p:cNvPr id="3" name="Содержимое"/>
          <p:cNvSpPr>
            <a:spLocks noGrp="1"/>
          </p:cNvSpPr>
          <p:nvPr>
            <p:ph idx="1"/>
          </p:nvPr>
        </p:nvSpPr>
        <p:spPr>
          <a:xfrm>
            <a:off x="500000" y="1500000"/>
            <a:ext cx="11200000" cy="510000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внешняя экспертная апробация готовых артефактов системы с привлечением трёх практикующих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юристов.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 кейсов — 11 описаний сделок, по одному на каждый из ключевых поддерживаемых типов договоров. Сбор оценок осуществлялся через веб-форму опроса: на каждом кейсе эксперт получал описание сделки, юридические рекомендации и проект договора в формате DOCX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Оценка проводилась по пятибалльной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шкале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двум показателям: качество проекта договора и качество юридических рекомендаций.</a:t>
            </a:r>
          </a:p>
        </p:txBody>
      </p:sp>
      <p:sp>
        <p:nvSpPr>
          <p:cNvPr id="40" name="Номер слайда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2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955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экспертной апробации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008" y="1690688"/>
            <a:ext cx="3465613" cy="3459749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904" y="1690688"/>
            <a:ext cx="3465613" cy="3459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0158" y="5358384"/>
            <a:ext cx="4401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Качество проекта договора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54" y="5358384"/>
            <a:ext cx="4401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Качество юридических рекомендаций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8811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348" y="1690688"/>
            <a:ext cx="8045303" cy="4351338"/>
          </a:xfrm>
        </p:spPr>
      </p:pic>
      <p:sp>
        <p:nvSpPr>
          <p:cNvPr id="5" name="TextBox 4"/>
          <p:cNvSpPr txBox="1"/>
          <p:nvPr/>
        </p:nvSpPr>
        <p:spPr>
          <a:xfrm>
            <a:off x="2073348" y="6042026"/>
            <a:ext cx="79850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чата с диалогом: запрос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пользователя, уточняющий вопрос агента и ответ пользователя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5547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473" y="5876544"/>
            <a:ext cx="79850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чата с готовыми юридическими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рекомендациями и ссылкой на скачивание сгенерированного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договора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03"/>
          <a:stretch/>
        </p:blipFill>
        <p:spPr>
          <a:xfrm>
            <a:off x="2229388" y="1690688"/>
            <a:ext cx="7733223" cy="4185856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807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38200" y="1690688"/>
            <a:ext cx="5058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Содержательная страница сгенерированного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договора в формате DOCX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174" y="291415"/>
            <a:ext cx="4868626" cy="6300575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5818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474" y="5879518"/>
            <a:ext cx="7985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Административная панель управления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корпусом нормативных правовых актов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388" y="1690688"/>
            <a:ext cx="7733224" cy="418883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703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97732" y="5879518"/>
            <a:ext cx="7985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Административная панель управления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корпусом нормативных правовых актов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388" y="1690688"/>
            <a:ext cx="7733224" cy="418883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7832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94740"/>
          </a:xfrm>
        </p:spPr>
        <p:txBody>
          <a:bodyPr>
            <a:noAutofit/>
          </a:bodyPr>
          <a:lstStyle/>
          <a:p>
            <a:r>
              <a:rPr lang="ru-RU" alt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работы</a:t>
            </a:r>
            <a:endParaRPr lang="ru-RU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C1EAA17-F0DF-4F15-9558-5B5F6A368814}"/>
              </a:ext>
            </a:extLst>
          </p:cNvPr>
          <p:cNvSpPr txBox="1"/>
          <p:nvPr/>
        </p:nvSpPr>
        <p:spPr>
          <a:xfrm>
            <a:off x="387991" y="1353185"/>
            <a:ext cx="11416018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настоящей работы сформирован корпус нормативных правовых актов российского договорного права с реализованным поиском релевантных норм по словесному описанию сделки; спроектирован и реализован интеллектуальный агент, осуществляющий преобразование свободного описания сделки в проект договора и сопровождающие юридические рекомендации со ссылками на статьи нормативных правовых актов.</a:t>
            </a:r>
            <a:endPara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эмпирическая оценка качества поиска норм, по результатам которой обоснован выбор итоговой конфигурации подсистемы поиска; внешняя экспертная апробация подготовленных артефактов с привлечением практикующих юристов подтвердила практическую применимость предложенного подхода.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754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код </a:t>
            </a:r>
            <a:r>
              <a:rPr lang="ru-RU" sz="4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репозитория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4594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1656</TotalTime>
  <Words>696</Words>
  <Application>Microsoft Office PowerPoint</Application>
  <PresentationFormat>Широкоэкранный</PresentationFormat>
  <Paragraphs>103</Paragraphs>
  <Slides>19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Arial Narrow</vt:lpstr>
      <vt:lpstr>Calibri</vt:lpstr>
      <vt:lpstr>Calibri Light</vt:lpstr>
      <vt:lpstr>Times New Roman</vt:lpstr>
      <vt:lpstr>Тема Office</vt:lpstr>
      <vt:lpstr>Выпускная квалификационная работа бакалавра на тему: «Интеллектуальный агент для подготовки гражданско-правовых договоров»</vt:lpstr>
      <vt:lpstr>Актуальность темы</vt:lpstr>
      <vt:lpstr>Цель и задачи работы</vt:lpstr>
      <vt:lpstr>Модели и датасеты</vt:lpstr>
      <vt:lpstr>Стек технологий</vt:lpstr>
      <vt:lpstr>Архитектура решения</vt:lpstr>
      <vt:lpstr>Граф состояний агента</vt:lpstr>
      <vt:lpstr>Подсистема RAG: двухступенчатый поиск</vt:lpstr>
      <vt:lpstr>Подбор параметров RAG</vt:lpstr>
      <vt:lpstr>Подбор параметров RAG</vt:lpstr>
      <vt:lpstr>Методология экспертной апробации</vt:lpstr>
      <vt:lpstr>Результаты экспертной апробации</vt:lpstr>
      <vt:lpstr>Демонстрация UI</vt:lpstr>
      <vt:lpstr>Демонстрация UI</vt:lpstr>
      <vt:lpstr>Демонстрация UI</vt:lpstr>
      <vt:lpstr>Демонстрация UI</vt:lpstr>
      <vt:lpstr>Демонстрация UI</vt:lpstr>
      <vt:lpstr>Результаты работы</vt:lpstr>
      <vt:lpstr>QR-код репозитория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бакалавра на тему: «Интеллектуальный агент для подготовки гражданско-правовых договоров»</dc:title>
  <dc:creator>WARMACHINE</dc:creator>
  <cp:lastModifiedBy>WARMACHINE</cp:lastModifiedBy>
  <cp:revision>46</cp:revision>
  <dcterms:created xsi:type="dcterms:W3CDTF">2026-05-18T12:48:10Z</dcterms:created>
  <dcterms:modified xsi:type="dcterms:W3CDTF">2026-05-24T18:28:49Z</dcterms:modified>
</cp:coreProperties>
</file>