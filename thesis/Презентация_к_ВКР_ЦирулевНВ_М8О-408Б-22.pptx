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4" r:id="rId6"/>
    <p:sldId id="262" r:id="rId7"/>
    <p:sldId id="263" r:id="rId8"/>
    <p:sldId id="269" r:id="rId9"/>
    <p:sldId id="270" r:id="rId10"/>
    <p:sldId id="271" r:id="rId11"/>
    <p:sldId id="272" r:id="rId12"/>
    <p:sldId id="265" r:id="rId13"/>
    <p:sldId id="266" r:id="rId14"/>
    <p:sldId id="267" r:id="rId15"/>
    <p:sldId id="268" r:id="rId16"/>
    <p:sldId id="260" r:id="rId17"/>
    <p:sldId id="274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2155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5F0A-6C7A-41AA-BA2C-973DBB5D056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4801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5F0A-6C7A-41AA-BA2C-973DBB5D056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5311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5F0A-6C7A-41AA-BA2C-973DBB5D056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531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5F0A-6C7A-41AA-BA2C-973DBB5D056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634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5F0A-6C7A-41AA-BA2C-973DBB5D056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73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5F0A-6C7A-41AA-BA2C-973DBB5D056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8767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5F0A-6C7A-41AA-BA2C-973DBB5D056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921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5F0A-6C7A-41AA-BA2C-973DBB5D056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9937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5F0A-6C7A-41AA-BA2C-973DBB5D056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7059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5F0A-6C7A-41AA-BA2C-973DBB5D056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37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5F0A-6C7A-41AA-BA2C-973DBB5D056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845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B5F0A-6C7A-41AA-BA2C-973DBB5D056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010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gif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230427"/>
            <a:ext cx="12192000" cy="2832100"/>
          </a:xfrm>
        </p:spPr>
        <p:txBody>
          <a:bodyPr>
            <a:normAutofit/>
          </a:bodyPr>
          <a:lstStyle/>
          <a:p>
            <a:r>
              <a:rPr lang="en-GB" sz="3600" dirty="0" err="1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Выпускная</a:t>
            </a:r>
            <a:r>
              <a:rPr lang="en-GB" sz="3600" dirty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3600" dirty="0" err="1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квалификационная</a:t>
            </a:r>
            <a:r>
              <a:rPr lang="en-GB" sz="3600" dirty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3600" dirty="0" err="1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работа</a:t>
            </a:r>
            <a:r>
              <a:rPr lang="en-GB" sz="3600" dirty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3600" dirty="0" err="1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бакалавра</a:t>
            </a:r>
            <a:r>
              <a:rPr lang="en-GB" sz="3600" dirty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3600" dirty="0" err="1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на</a:t>
            </a:r>
            <a:r>
              <a:rPr lang="en-GB" sz="3600" dirty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3600" dirty="0" err="1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тему</a:t>
            </a:r>
            <a:r>
              <a:rPr lang="en-GB" sz="3600" dirty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:</a:t>
            </a:r>
            <a:br>
              <a:rPr lang="en-GB" sz="3600" dirty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</a:br>
            <a:r>
              <a:rPr lang="ru-RU" altLang="en-GB" sz="3200" b="1" dirty="0" smtClean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«</a:t>
            </a:r>
            <a:r>
              <a:rPr lang="ru-RU" altLang="en-US" sz="3200" b="1" dirty="0" smtClean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Интеллектуальный агент для подготовки гражданско-правовых договоров</a:t>
            </a:r>
            <a:r>
              <a:rPr lang="ru-RU" altLang="en-GB" sz="3200" b="1" dirty="0" smtClean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»</a:t>
            </a:r>
            <a:endParaRPr lang="ru-RU" altLang="en-GB" sz="4000" b="1" dirty="0">
              <a:latin typeface="Times New Roman" panose="02020603050405020304" pitchFamily="18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008077" y="4486694"/>
            <a:ext cx="10175846" cy="2371306"/>
          </a:xfrm>
        </p:spPr>
        <p:txBody>
          <a:bodyPr>
            <a:normAutofit fontScale="92500" lnSpcReduction="1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ru-RU" sz="2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2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Студент группы </a:t>
            </a:r>
            <a:r>
              <a:rPr lang="ru-RU" sz="2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М8О-40</a:t>
            </a: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8</a:t>
            </a:r>
            <a:r>
              <a:rPr lang="ru-RU" sz="2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Б-2</a:t>
            </a: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2</a:t>
            </a:r>
            <a:r>
              <a:rPr lang="ru-RU" sz="2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:</a:t>
            </a: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</a:t>
            </a:r>
            <a:r>
              <a:rPr lang="ru-RU" sz="2600" b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Цирлев</a:t>
            </a:r>
            <a:r>
              <a:rPr lang="ru-RU" sz="2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Николай Владимирович</a:t>
            </a:r>
            <a:endParaRPr lang="ru-RU" sz="26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6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2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Научный руководитель: </a:t>
            </a:r>
            <a:r>
              <a:rPr lang="ru-RU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д.т.н., профессор кафедры </a:t>
            </a:r>
            <a:r>
              <a:rPr lang="en-US" alt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806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В.А. Судаков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Москва – </a:t>
            </a: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2026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334415" y="214740"/>
            <a:ext cx="9681445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Московский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авиационный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институт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(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национальный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исследовательский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университет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)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Институт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№8 «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Компьютерные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науки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и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прикладная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математика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»</a:t>
            </a:r>
            <a:endParaRPr lang="ru-RU" sz="2000" dirty="0">
              <a:solidFill>
                <a:schemeClr val="dk1"/>
              </a:solidFill>
              <a:latin typeface="Times New Roman" panose="02020603050405020304" pitchFamily="18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 panose="02020603050405020304" pitchFamily="18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Кафедра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№806 «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Вычислительная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математика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и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программирование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»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35560" y="363220"/>
            <a:ext cx="998855" cy="959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1015860" y="300354"/>
            <a:ext cx="998855" cy="10852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34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302260"/>
            <a:ext cx="10515600" cy="1072515"/>
          </a:xfrm>
        </p:spPr>
        <p:txBody>
          <a:bodyPr>
            <a:normAutofit/>
          </a:bodyPr>
          <a:lstStyle/>
          <a:p>
            <a:r>
              <a:rPr lang="ru-RU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темы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707264" y="1662868"/>
            <a:ext cx="10777471" cy="5096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темы настоящей выпускной квалификационной работы обусловлена массовой потребностью граждан в первичной правовой поддержке при подготовке договоров по бытовым сделкам и ограниченностью существующих программных решений, которые сводятся либо к шаблонным конструкторам без правовой оценки сделки, либо к универсальным языковым моделям, не привязанным к актуальной редакции законодательства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11734800" y="64897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7496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1590" y="174556"/>
            <a:ext cx="10515600" cy="1104265"/>
          </a:xfrm>
        </p:spPr>
        <p:txBody>
          <a:bodyPr>
            <a:normAutofit/>
          </a:bodyPr>
          <a:lstStyle/>
          <a:p>
            <a:r>
              <a:rPr lang="ru-RU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работы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438499" y="1278821"/>
            <a:ext cx="11315001" cy="47109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настоящей работы является разработка интеллектуального программного агента, осуществляющего по словесному описанию сделки подготовку проекта договора и юридических рекомендаций со ссылками на статьи нормативных правовых актов.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достижения поставленной цели в работе решаются следующие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Сформировать корпус нормативных правовых актов российского договорного права и реализовать поиск релевантных норм по словесному описанию сделки.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и реализовать интеллектуального агента, осуществляющего преобразование свободного описания сделки в проект договора и сопровождающие юридические рекомендации.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эмпирическую оценку качества поиска норм и внешнюю экспертную апробацию подготовленных системой артефактов с привлечением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экспертов.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11734800" y="64897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65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используемые в разработке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13433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Инференс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LLM Gemma 4: 31b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Эмбеддер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-sage/Giga-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-instruct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Реранкер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Qwen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/Qwen3-Reranker-0.6B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955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Датасеты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используемые в разработке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работы были использованы следующие тексты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нормативно-правовых актов, загруженные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официального интернет-портала правовой информации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pravo.gov.ru: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ГК РФ 1 и 2 часть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ЖК РФ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ФЗ "О защите прав потребителей"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ФЗ "О государственной регистрации недвижимости"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ФЗ о потребительском кредите (займе).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529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Стек технологий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63" y="1861204"/>
            <a:ext cx="5546561" cy="156833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63" y="5218388"/>
            <a:ext cx="4713784" cy="871559"/>
          </a:xfrm>
          <a:prstGeom prst="rect">
            <a:avLst/>
          </a:prstGeom>
        </p:spPr>
      </p:pic>
      <p:pic>
        <p:nvPicPr>
          <p:cNvPr id="9" name="Picture 10" descr="Picture background">
            <a:extLst>
              <a:ext uri="{FF2B5EF4-FFF2-40B4-BE49-F238E27FC236}">
                <a16:creationId xmlns="" xmlns:a16="http://schemas.microsoft.com/office/drawing/2014/main" id="{B618B53D-72D4-4F70-A118-A0D5D4C36E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88" b="36441"/>
          <a:stretch/>
        </p:blipFill>
        <p:spPr bwMode="auto">
          <a:xfrm>
            <a:off x="5945409" y="5345373"/>
            <a:ext cx="6036714" cy="1429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Picture background">
            <a:extLst>
              <a:ext uri="{FF2B5EF4-FFF2-40B4-BE49-F238E27FC236}">
                <a16:creationId xmlns="" xmlns:a16="http://schemas.microsoft.com/office/drawing/2014/main" id="{6DB18202-4FEF-4442-9A9B-948798D25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2529" y="365125"/>
            <a:ext cx="1881580" cy="24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E2BA8196-8329-451F-9985-3818FC70BB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8521" y="3986784"/>
            <a:ext cx="1453602" cy="1453602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233" y="359705"/>
            <a:ext cx="3895344" cy="668201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9418" y="1279140"/>
            <a:ext cx="3183159" cy="1164127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512" y="2777125"/>
            <a:ext cx="5642065" cy="1209659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206322"/>
            <a:ext cx="4278908" cy="113905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63" y="3625440"/>
            <a:ext cx="4713784" cy="99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862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решения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7579" y="1856105"/>
            <a:ext cx="613684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630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348" y="1690688"/>
            <a:ext cx="8045303" cy="4351338"/>
          </a:xfrm>
        </p:spPr>
      </p:pic>
      <p:sp>
        <p:nvSpPr>
          <p:cNvPr id="5" name="TextBox 4"/>
          <p:cNvSpPr txBox="1"/>
          <p:nvPr/>
        </p:nvSpPr>
        <p:spPr>
          <a:xfrm>
            <a:off x="2073348" y="6224016"/>
            <a:ext cx="7985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чата с диалогом: запрос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пользователя, уточняющий вопрос агента и ответ пользователя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547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73348" y="6224016"/>
            <a:ext cx="7985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чата с готовыми юридическими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рекомендациями и ссылкой на скачивание сгенерированного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 договора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388" y="1690688"/>
            <a:ext cx="7733223" cy="4351338"/>
          </a:xfrm>
        </p:spPr>
      </p:pic>
    </p:spTree>
    <p:extLst>
      <p:ext uri="{BB962C8B-B14F-4D97-AF65-F5344CB8AC3E}">
        <p14:creationId xmlns:p14="http://schemas.microsoft.com/office/powerpoint/2010/main" val="2364807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1690688"/>
            <a:ext cx="5058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Содержательная страница сгенерированного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 договора в формате DOCX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5174" y="291415"/>
            <a:ext cx="4868626" cy="63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818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73348" y="6224016"/>
            <a:ext cx="7985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Административная панель управления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корпусом нормативных правовых актов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388" y="1690688"/>
            <a:ext cx="77332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703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Подбор параметров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RAG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8116" y="5529142"/>
            <a:ext cx="66873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Сравнительный анализ конфигураций двухступенчатого поиска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времени отклика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метрикам качества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ранжирования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классификации типа договора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(значения метрик в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процентах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в миллисекундах)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71599"/>
            <a:ext cx="6867144" cy="415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43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Подбор параметров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RAG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02" r="66116"/>
          <a:stretch/>
        </p:blipFill>
        <p:spPr>
          <a:xfrm>
            <a:off x="2020824" y="1690688"/>
            <a:ext cx="3563112" cy="2558870"/>
          </a:xfrm>
        </p:spPr>
      </p:pic>
      <p:pic>
        <p:nvPicPr>
          <p:cNvPr id="7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38" t="6841"/>
          <a:stretch/>
        </p:blipFill>
        <p:spPr>
          <a:xfrm>
            <a:off x="6766560" y="1690688"/>
            <a:ext cx="3508248" cy="26053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56816" y="4480560"/>
            <a:ext cx="3627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 точности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precision@k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итоговой конфигурации от глубины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выдачи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07124" y="4480560"/>
            <a:ext cx="3627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доли попаданий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hit@k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итоговой конфигурации от глубины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выдачи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839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Подбор параметров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RAG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1690688"/>
            <a:ext cx="38496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значений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precision@k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точности классификации итоговой конфигурации поиска по типам сделок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540" y="1422464"/>
            <a:ext cx="4913260" cy="5203700"/>
          </a:xfrm>
        </p:spPr>
      </p:pic>
    </p:spTree>
    <p:extLst>
      <p:ext uri="{BB962C8B-B14F-4D97-AF65-F5344CB8AC3E}">
        <p14:creationId xmlns:p14="http://schemas.microsoft.com/office/powerpoint/2010/main" val="2185253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экспертной апробации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008" y="1690688"/>
            <a:ext cx="3465613" cy="3459749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904" y="1690688"/>
            <a:ext cx="3465613" cy="34597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0158" y="5358384"/>
            <a:ext cx="4401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 проекта договора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3054" y="5358384"/>
            <a:ext cx="4401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 юридических рекомендаций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811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094740"/>
          </a:xfrm>
        </p:spPr>
        <p:txBody>
          <a:bodyPr>
            <a:noAutofit/>
          </a:bodyPr>
          <a:lstStyle/>
          <a:p>
            <a:r>
              <a:rPr lang="ru-RU" alt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работы</a:t>
            </a:r>
            <a:endParaRPr lang="ru-RU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11734800" y="64897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9C1EAA17-F0DF-4F15-9558-5B5F6A368814}"/>
              </a:ext>
            </a:extLst>
          </p:cNvPr>
          <p:cNvSpPr txBox="1"/>
          <p:nvPr/>
        </p:nvSpPr>
        <p:spPr>
          <a:xfrm>
            <a:off x="387991" y="1353185"/>
            <a:ext cx="1141601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выполнения настоящей работы сформирован корпус нормативных правовых актов российского договорного права с реализованным поиском релевантных норм по словесному описанию сделки; спроектирован и реализован интеллектуальный агент, осуществляющий преобразование свободного описания сделки в проект договора и сопровождающие юридические рекомендации со ссылками на статьи нормативных правовых актов.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Проведённая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внешняя экспертная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апробация подготовленных системой артефактов с привлечением практикующих юристов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подтвердила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практическую применимость предложенного подхода.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754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QR-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код </a:t>
            </a:r>
            <a:r>
              <a:rPr lang="ru-RU" sz="4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репозитория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2224594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1511</TotalTime>
  <Words>462</Words>
  <Application>Microsoft Office PowerPoint</Application>
  <PresentationFormat>Широкоэкранный</PresentationFormat>
  <Paragraphs>57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Arial Narrow</vt:lpstr>
      <vt:lpstr>Calibri</vt:lpstr>
      <vt:lpstr>Calibri Light</vt:lpstr>
      <vt:lpstr>Times New Roman</vt:lpstr>
      <vt:lpstr>Тема Office</vt:lpstr>
      <vt:lpstr>Выпускная квалификационная работа бакалавра на тему: «Интеллектуальный агент для подготовки гражданско-правовых договоров»</vt:lpstr>
      <vt:lpstr>Актуальность темы</vt:lpstr>
      <vt:lpstr>Цель и задачи работы</vt:lpstr>
      <vt:lpstr>Модели, используемые в разработке</vt:lpstr>
      <vt:lpstr>Датасеты, используемые в разработке</vt:lpstr>
      <vt:lpstr>Стек технологий</vt:lpstr>
      <vt:lpstr>Архитектура решения</vt:lpstr>
      <vt:lpstr>Демонстрация UI</vt:lpstr>
      <vt:lpstr>Демонстрация UI</vt:lpstr>
      <vt:lpstr>Демонстрация UI</vt:lpstr>
      <vt:lpstr>Демонстрация UI</vt:lpstr>
      <vt:lpstr>Подбор параметров RAG</vt:lpstr>
      <vt:lpstr>Подбор параметров RAG</vt:lpstr>
      <vt:lpstr>Подбор параметров RAG</vt:lpstr>
      <vt:lpstr>Результаты экспертной апробации</vt:lpstr>
      <vt:lpstr>Результаты работы</vt:lpstr>
      <vt:lpstr>QR-код репозитория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Выпускная квалификационная работа бакалавра на тему: «Интеллектуальный агент для подготовки гражданско-правовых договоров»</dc:title>
  <dc:creator>WARMACHINE</dc:creator>
  <cp:lastModifiedBy>WARMACHINE</cp:lastModifiedBy>
  <cp:revision>29</cp:revision>
  <dcterms:created xsi:type="dcterms:W3CDTF">2026-05-18T12:48:10Z</dcterms:created>
  <dcterms:modified xsi:type="dcterms:W3CDTF">2026-05-21T21:31:55Z</dcterms:modified>
</cp:coreProperties>
</file>