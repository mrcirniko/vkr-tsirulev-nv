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59" r:id="rId4"/>
    <p:sldId id="261" r:id="rId5"/>
    <p:sldId id="282" r:id="rId6"/>
    <p:sldId id="283" r:id="rId7"/>
    <p:sldId id="284" r:id="rId8"/>
    <p:sldId id="262" r:id="rId9"/>
    <p:sldId id="263" r:id="rId10"/>
    <p:sldId id="277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5" r:id="rId20"/>
    <p:sldId id="260" r:id="rId21"/>
    <p:sldId id="274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1253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1B4E93-09C8-4657-9AE1-E207D92A3462}" type="datetimeFigureOut">
              <a:rPr lang="ru-RU" smtClean="0"/>
              <a:t>25.05.2026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51E630-1A06-4B65-8509-713E93B703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9785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51E630-1A06-4B65-8509-713E93B7030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0942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51E630-1A06-4B65-8509-713E93B7030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2320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51E630-1A06-4B65-8509-713E93B7030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9640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D7D07-0564-4A47-AA84-8EF523C2E389}" type="datetime1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4801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52302-0383-4AD1-9449-8797A7A73218}" type="datetime1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65A3789A-D406-449F-860F-117B58A4521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53111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49C46-2208-4326-B2F2-580AEF474A78}" type="datetime1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531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B8C27-E1E2-4B89-8318-D50CE0BB87D4}" type="datetime1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7634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4C8A41-9D88-4F87-9C62-37D5804BE088}" type="datetime1">
              <a:rPr lang="ru-RU" smtClean="0"/>
              <a:t>25.05.2026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730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184BC-4182-4655-889A-9B0525A544CD}" type="datetime1">
              <a:rPr lang="ru-RU" smtClean="0"/>
              <a:t>25.05.2026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8767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68B67E-82D6-4143-BB07-2516ACE40AF5}" type="datetime1">
              <a:rPr lang="ru-RU" smtClean="0"/>
              <a:t>25.05.2026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8921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7820B-2673-43EF-8199-C82C44DB62A0}" type="datetime1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9937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42FD7-A1F4-4DDE-AB85-A9215765061C}" type="datetime1">
              <a:rPr lang="ru-RU" smtClean="0"/>
              <a:t>25.05.2026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7059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72D43-09B3-4D62-92E3-360381D9C2F6}" type="datetime1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37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66904-3332-4021-8626-8C0397F396FE}" type="datetime1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8454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13D50-65F6-4088-BB37-A869858272C4}" type="datetime1">
              <a:rPr lang="ru-RU" smtClean="0"/>
              <a:t>25.05.2026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3789A-D406-449F-860F-117B58A452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0103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gif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230427"/>
            <a:ext cx="12192000" cy="2832100"/>
          </a:xfrm>
        </p:spPr>
        <p:txBody>
          <a:bodyPr>
            <a:normAutofit/>
          </a:bodyPr>
          <a:lstStyle/>
          <a:p>
            <a:r>
              <a:rPr lang="en-GB" sz="3600" dirty="0" err="1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Выпускная</a:t>
            </a:r>
            <a:r>
              <a:rPr lang="en-GB" sz="3600" dirty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3600" dirty="0" err="1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квалификационная</a:t>
            </a:r>
            <a:r>
              <a:rPr lang="en-GB" sz="3600" dirty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3600" dirty="0" err="1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работа</a:t>
            </a:r>
            <a:r>
              <a:rPr lang="en-GB" sz="3600" dirty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3600" dirty="0" err="1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бакалавра</a:t>
            </a:r>
            <a:r>
              <a:rPr lang="en-GB" sz="3600" dirty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3600" dirty="0" err="1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на</a:t>
            </a:r>
            <a:r>
              <a:rPr lang="en-GB" sz="3600" dirty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3600" dirty="0" err="1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тему</a:t>
            </a:r>
            <a:r>
              <a:rPr lang="en-GB" sz="3600" dirty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:</a:t>
            </a:r>
            <a:br>
              <a:rPr lang="en-GB" sz="3600" dirty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</a:br>
            <a:r>
              <a:rPr lang="ru-RU" altLang="en-GB" sz="3200" b="1" dirty="0" smtClean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«</a:t>
            </a:r>
            <a:r>
              <a:rPr lang="ru-RU" altLang="en-US" sz="3200" b="1" dirty="0" smtClean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Интеллектуальный агент для подготовки гражданско-правовых договоров</a:t>
            </a:r>
            <a:r>
              <a:rPr lang="ru-RU" altLang="en-GB" sz="3200" b="1" dirty="0" smtClean="0"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»</a:t>
            </a:r>
            <a:endParaRPr lang="ru-RU" altLang="en-GB" sz="4000" b="1" dirty="0">
              <a:latin typeface="Times New Roman" panose="02020603050405020304" pitchFamily="18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008077" y="4486694"/>
            <a:ext cx="10175846" cy="2371306"/>
          </a:xfrm>
        </p:spPr>
        <p:txBody>
          <a:bodyPr>
            <a:normAutofit fontScale="92500" lnSpcReduction="1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ru-RU" sz="2600" b="1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sz="2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Студент группы </a:t>
            </a:r>
            <a:r>
              <a:rPr lang="ru-RU" sz="2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М8О-40</a:t>
            </a:r>
            <a:r>
              <a:rPr lang="en-US" sz="2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8</a:t>
            </a:r>
            <a:r>
              <a:rPr lang="ru-RU" sz="2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Б-2</a:t>
            </a:r>
            <a:r>
              <a:rPr lang="en-US" sz="2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2</a:t>
            </a:r>
            <a:r>
              <a:rPr lang="ru-RU" sz="2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:</a:t>
            </a:r>
            <a:r>
              <a:rPr lang="en-US" sz="2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</a:t>
            </a:r>
            <a:r>
              <a:rPr lang="ru-RU" sz="2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Цир</a:t>
            </a:r>
            <a:r>
              <a:rPr lang="ru-RU" sz="2600" b="1" dirty="0"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у</a:t>
            </a:r>
            <a:r>
              <a:rPr lang="ru-RU" sz="26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лев Николай Владимирович</a:t>
            </a:r>
            <a:endParaRPr lang="ru-RU" sz="26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600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sz="2600" b="1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Научный руководитель: </a:t>
            </a:r>
            <a:r>
              <a:rPr lang="ru-RU" altLang="en-US" sz="26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д.т.н., профессор кафедры </a:t>
            </a:r>
            <a:r>
              <a:rPr lang="en-US" altLang="ru-RU" sz="26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806</a:t>
            </a:r>
            <a:r>
              <a:rPr lang="ru-RU" sz="2600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 В.А. Судаков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ru-RU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Москва – </a:t>
            </a: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ea typeface="Times New Roman" panose="02020603050405020304"/>
                <a:cs typeface="Times New Roman" panose="02020603050405020304" pitchFamily="18" charset="0"/>
                <a:sym typeface="Times New Roman" panose="02020603050405020304"/>
              </a:rPr>
              <a:t>2026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334415" y="214740"/>
            <a:ext cx="9681445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Московский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авиационный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институт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(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национальный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исследовательский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университет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)</a:t>
            </a:r>
            <a:endParaRPr sz="2000" dirty="0">
              <a:solidFill>
                <a:schemeClr val="dk1"/>
              </a:solidFill>
              <a:latin typeface="Times New Roman" panose="02020603050405020304" pitchFamily="18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Институт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№8 «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Компьютерные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науки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и 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прикладная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математика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»</a:t>
            </a:r>
            <a:endParaRPr lang="ru-RU" sz="2000" dirty="0">
              <a:solidFill>
                <a:schemeClr val="dk1"/>
              </a:solidFill>
              <a:latin typeface="Times New Roman" panose="02020603050405020304" pitchFamily="18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Times New Roman" panose="02020603050405020304" pitchFamily="18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Кафедра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№806 «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Вычислительная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математика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 и </a:t>
            </a:r>
            <a:r>
              <a:rPr lang="en-GB" sz="2000" dirty="0" err="1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программирование</a:t>
            </a:r>
            <a:r>
              <a:rPr lang="en-GB" sz="2000" dirty="0">
                <a:solidFill>
                  <a:schemeClr val="dk1"/>
                </a:solidFill>
                <a:latin typeface="Times New Roman" panose="02020603050405020304" pitchFamily="18" charset="0"/>
                <a:ea typeface="Arial Narrow" panose="020B0606020202030204"/>
                <a:cs typeface="Times New Roman" panose="02020603050405020304" pitchFamily="18" charset="0"/>
                <a:sym typeface="Arial Narrow" panose="020B0606020202030204"/>
              </a:rPr>
              <a:t>»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ea typeface="Arial Narrow" panose="020B0606020202030204"/>
              <a:cs typeface="Times New Roman" panose="02020603050405020304" pitchFamily="18" charset="0"/>
              <a:sym typeface="Arial Narrow" panose="020B0606020202030204"/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335560" y="363220"/>
            <a:ext cx="998855" cy="9594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11015860" y="300354"/>
            <a:ext cx="998855" cy="10852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834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302260"/>
            <a:ext cx="10515600" cy="1072515"/>
          </a:xfrm>
        </p:spPr>
        <p:txBody>
          <a:bodyPr>
            <a:normAutofit/>
          </a:bodyPr>
          <a:lstStyle/>
          <a:p>
            <a:r>
              <a:rPr lang="ru-RU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темы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707264" y="1662868"/>
            <a:ext cx="10777471" cy="50965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 </a:t>
            </a:r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темы настоящей выпускной квалификационной работы обусловлена массовой потребностью граждан в первичной правовой поддержке при подготовке договоров по бытовым сделкам и ограниченностью существующих программных решений, которые сводятся либо к шаблонным конструкторам без правовой оценки сделки, либо к универсальным языковым моделям, не привязанным к актуальной редакции законодательства</a:t>
            </a:r>
            <a:r>
              <a:rPr lang="ru-RU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4967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1590" y="174556"/>
            <a:ext cx="10515600" cy="1104265"/>
          </a:xfrm>
        </p:spPr>
        <p:txBody>
          <a:bodyPr>
            <a:normAutofit/>
          </a:bodyPr>
          <a:lstStyle/>
          <a:p>
            <a:r>
              <a:rPr lang="ru-RU" alt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 работы</a:t>
            </a: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>
          <a:xfrm>
            <a:off x="438499" y="1278821"/>
            <a:ext cx="11315001" cy="47109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Целью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настоящей работы является разработка интеллектуального программного агента, осуществляющего по словесному описанию сделки подготовку проекта договора и юридических рекомендаций со ссылками на статьи нормативных правовых актов.</a:t>
            </a:r>
          </a:p>
          <a:p>
            <a:pPr marL="0" indent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достижения поставленной цели в работе решаются следующие </a:t>
            </a: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Сформировать корпус нормативных правовых актов российского договорного права и реализовать поиск релевантных норм по словесному описанию сделки.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и реализовать интеллектуального агента, осуществляющего преобразование свободного описания сделки в проект договора и сопровождающие юридические рекомендации.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эмпирическую оценку качества поиска норм и внешнюю экспертную апробацию подготовленных системой артефактов с привлечением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экспертов.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65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Используемые модели и </a:t>
            </a:r>
            <a:r>
              <a:rPr lang="ru-RU" sz="4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датасеты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92000" y="1500000"/>
            <a:ext cx="5400000" cy="50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Используемые модели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Инференс LLM: Gemma 4: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31b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Эмбеддер: ai-sage/Giga-Embeddings-instruct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Реранкер: Qwen/Qwen3-Reranker-0.6B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00000" y="1500000"/>
            <a:ext cx="5500000" cy="50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>
              <a:buNone/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Корпус нормативных актов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работы были использованы следующие тексты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нормативно-правовых актов, загруженные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официального интернет-портала правовой информации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pravo.gov.ru: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ГК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РФ, часть 1 и 2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ЖК РФ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ФЗ «О защите прав потребителей»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ФЗ «О государственной регистрации недвижимости»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ФЗ о потребительском кредите (займе)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3955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5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b="6772"/>
          <a:stretch/>
        </p:blipFill>
        <p:spPr>
          <a:xfrm>
            <a:off x="1270000" y="458864"/>
            <a:ext cx="8816848" cy="6399136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42816" y="29510"/>
            <a:ext cx="2871216" cy="652272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8287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458864"/>
            <a:ext cx="8805999" cy="6399136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6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42816" y="29510"/>
            <a:ext cx="2871216" cy="652272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905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7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4152" y="197150"/>
            <a:ext cx="5739384" cy="652272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Выбор эмбеддинг модели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07459" y="6321365"/>
            <a:ext cx="7341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Сравнение моделей эмбеддингов на бенчмарке ruMTEB (v1.1)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5230412"/>
              </p:ext>
            </p:extLst>
          </p:nvPr>
        </p:nvGraphicFramePr>
        <p:xfrm>
          <a:off x="454152" y="884407"/>
          <a:ext cx="11320039" cy="5385246"/>
        </p:xfrm>
        <a:graphic>
          <a:graphicData uri="http://schemas.openxmlformats.org/drawingml/2006/table">
            <a:tbl>
              <a:tblPr/>
              <a:tblGrid>
                <a:gridCol w="1112745"/>
                <a:gridCol w="2760463"/>
                <a:gridCol w="2032899"/>
                <a:gridCol w="2428780"/>
                <a:gridCol w="1829609"/>
                <a:gridCol w="1155543"/>
              </a:tblGrid>
              <a:tr h="414041"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Rank (Borda)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Parameters (B)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Embedding Dimensions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 (</a:t>
                      </a:r>
                      <a:r>
                        <a:rPr lang="en-US" sz="1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TaskType</a:t>
                      </a: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Retrieval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7774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Giga-</a:t>
                      </a:r>
                      <a:r>
                        <a:rPr lang="en-US" sz="18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Embeddings</a:t>
                      </a:r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-instruct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3.227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2048.0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73.14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81.41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7774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Qwen3-Embedding-8B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7.567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4096.0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69.23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78.19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7774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F2LLM-v2-14B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13.99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5120.0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67.15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76.36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7774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F2LLM-v2-8B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7.568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4096.0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67.02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75.67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7774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FRIDA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0.823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1536.0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68.87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76.38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7774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Qwen3-Embedding-4B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4.022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2560.0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67.46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76.36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7774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F2LLM-v2-4B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4.022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2560.0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65.86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73.74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7774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BERTA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0.128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768.0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67.92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73.79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7774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F2LLM-v2-1.7B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1.721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2048.0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64.8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72.46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7774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e5-mistral-7b-instruct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7.111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4096.0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64.86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73.29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7774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GritLM-7B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7.24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4096.0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62.18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55.52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9343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embeddinggemma-300m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0.308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768.0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63.15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71.5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71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Arial Unicode MS" panose="020B0604020202020204" pitchFamily="34" charset="-128"/>
                          <a:cs typeface="Times New Roman" panose="02020603050405020304" pitchFamily="18" charset="0"/>
                        </a:rPr>
                        <a:t>F2LLM-v2-0.6B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0.596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1024.0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62.15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67.99</a:t>
                      </a:r>
                    </a:p>
                  </a:txBody>
                  <a:tcPr marL="7484" marR="7484" marT="748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0366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Стек технологий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63" y="1861204"/>
            <a:ext cx="5546561" cy="1568338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63" y="5218388"/>
            <a:ext cx="4713784" cy="871559"/>
          </a:xfrm>
          <a:prstGeom prst="rect">
            <a:avLst/>
          </a:prstGeom>
        </p:spPr>
      </p:pic>
      <p:pic>
        <p:nvPicPr>
          <p:cNvPr id="9" name="Picture 10" descr="Picture background">
            <a:extLst>
              <a:ext uri="{FF2B5EF4-FFF2-40B4-BE49-F238E27FC236}">
                <a16:creationId xmlns:a16="http://schemas.microsoft.com/office/drawing/2014/main" xmlns="" id="{B618B53D-72D4-4F70-A118-A0D5D4C36E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88" b="36441"/>
          <a:stretch/>
        </p:blipFill>
        <p:spPr bwMode="auto">
          <a:xfrm>
            <a:off x="5945409" y="5345373"/>
            <a:ext cx="6036714" cy="1429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Picture background">
            <a:extLst>
              <a:ext uri="{FF2B5EF4-FFF2-40B4-BE49-F238E27FC236}">
                <a16:creationId xmlns:a16="http://schemas.microsoft.com/office/drawing/2014/main" xmlns="" id="{6DB18202-4FEF-4442-9A9B-948798D259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2529" y="365125"/>
            <a:ext cx="1881580" cy="241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xmlns="" id="{E2BA8196-8329-451F-9985-3818FC70BB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8521" y="3986784"/>
            <a:ext cx="1453602" cy="1453602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7233" y="359705"/>
            <a:ext cx="3895344" cy="668201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9418" y="1279140"/>
            <a:ext cx="3183159" cy="1164127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0512" y="2777125"/>
            <a:ext cx="5642065" cy="1209659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206322"/>
            <a:ext cx="4278908" cy="1139051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963" y="3625440"/>
            <a:ext cx="4713784" cy="998683"/>
          </a:xfrm>
          <a:prstGeom prst="rect">
            <a:avLst/>
          </a:prstGeom>
        </p:spPr>
      </p:pic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0862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41119" y="597408"/>
            <a:ext cx="8829527" cy="6260592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2400" y="162936"/>
            <a:ext cx="5736336" cy="707136"/>
          </a:xfrm>
        </p:spPr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решения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1630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Подсистема RAG: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Block1"/>
          <p:cNvSpPr/>
          <p:nvPr/>
        </p:nvSpPr>
        <p:spPr>
          <a:xfrm>
            <a:off x="500000" y="1800000"/>
            <a:ext cx="2400000" cy="1500000"/>
          </a:xfrm>
          <a:prstGeom prst="roundRect">
            <a:avLst/>
          </a:prstGeom>
          <a:solidFill>
            <a:srgbClr val="DEEBF7"/>
          </a:solidFill>
          <a:ln w="12700">
            <a:solidFill>
              <a:srgbClr val="2E75B6"/>
            </a:solidFill>
          </a:ln>
        </p:spPr>
        <p:txBody>
          <a:bodyPr wrap="square" rtlCol="0" anchor="ctr"/>
          <a:lstStyle/>
          <a:p>
            <a:pPr algn="ctr"/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Эмбеддер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Giga-Embeddings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top-80 кандидатов</a:t>
            </a:r>
          </a:p>
        </p:txBody>
      </p:sp>
      <p:sp>
        <p:nvSpPr>
          <p:cNvPr id="21" name="Arrow1"/>
          <p:cNvSpPr/>
          <p:nvPr/>
        </p:nvSpPr>
        <p:spPr>
          <a:xfrm>
            <a:off x="2950000" y="2400000"/>
            <a:ext cx="345224" cy="30000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Block2"/>
          <p:cNvSpPr/>
          <p:nvPr/>
        </p:nvSpPr>
        <p:spPr>
          <a:xfrm>
            <a:off x="3345224" y="1800000"/>
            <a:ext cx="2654776" cy="1500000"/>
          </a:xfrm>
          <a:prstGeom prst="roundRect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wrap="square" rtlCol="0" anchor="ctr"/>
          <a:lstStyle/>
          <a:p>
            <a:pPr algn="ctr"/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Реранкер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Qwen3-Reranker-0.6B</a:t>
            </a:r>
          </a:p>
          <a:p>
            <a:pPr algn="ctr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eranking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Block3"/>
          <p:cNvSpPr/>
          <p:nvPr/>
        </p:nvSpPr>
        <p:spPr>
          <a:xfrm>
            <a:off x="6445224" y="1800000"/>
            <a:ext cx="2400000" cy="1500000"/>
          </a:xfrm>
          <a:prstGeom prst="roundRect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</p:spPr>
        <p:txBody>
          <a:bodyPr wrap="square" rtlCol="0" anchor="ctr"/>
          <a:lstStyle/>
          <a:p>
            <a:pPr algn="ctr"/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LLM-фильтр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отсев нерелевантных</a:t>
            </a:r>
          </a:p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выбросов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Block4"/>
          <p:cNvSpPr/>
          <p:nvPr/>
        </p:nvSpPr>
        <p:spPr>
          <a:xfrm>
            <a:off x="9301224" y="1800000"/>
            <a:ext cx="2200000" cy="1500000"/>
          </a:xfrm>
          <a:prstGeom prst="roundRect">
            <a:avLst/>
          </a:prstGeom>
          <a:solidFill>
            <a:srgbClr val="FCE4D6"/>
          </a:solidFill>
          <a:ln w="12700">
            <a:solidFill>
              <a:srgbClr val="C55A11"/>
            </a:solidFill>
          </a:ln>
        </p:spPr>
        <p:txBody>
          <a:bodyPr wrap="square" rtlCol="0" anchor="ctr"/>
          <a:lstStyle/>
          <a:p>
            <a:pPr algn="ctr"/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Итоговая выдача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релевантные нормы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генерации</a:t>
            </a:r>
          </a:p>
        </p:txBody>
      </p:sp>
      <p:sp>
        <p:nvSpPr>
          <p:cNvPr id="30" name="ParamsBox"/>
          <p:cNvSpPr txBox="1"/>
          <p:nvPr/>
        </p:nvSpPr>
        <p:spPr>
          <a:xfrm>
            <a:off x="500000" y="3700000"/>
            <a:ext cx="11200000" cy="2800000"/>
          </a:xfrm>
          <a:prstGeom prst="rect">
            <a:avLst/>
          </a:prstGeom>
          <a:noFill/>
        </p:spPr>
        <p:txBody>
          <a:bodyPr wrap="square" rtlCol="0">
            <a:normAutofit fontScale="92500"/>
          </a:bodyPr>
          <a:lstStyle/>
          <a:p>
            <a:pPr marL="0" indent="0">
              <a:buNone/>
            </a:pPr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Параметры подсистемы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Размерность векторов эмбеддера — 2048; режим инференса bfloat16; мера близости — косинусная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Корпус разделён на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коллекции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Qdrant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(general –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общие источники права (ГК РФ общие положения о договорах)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primal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первичные статьи ГК, содержащие описание договоров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secondary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все остальные источники права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LLM формулирует запрос для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эмбеддера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к нему добавляется инструкция-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промпт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instruction-tuned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режим Giga-Embeddings)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Гиперпараметры подсистемы (наличие реранкера, наличие LLM-фильтра, глубина выдачи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 т.д.)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подобраны эмпирически</a:t>
            </a:r>
          </a:p>
        </p:txBody>
      </p:sp>
      <p:sp>
        <p:nvSpPr>
          <p:cNvPr id="40" name="Номер слайда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20}" type="slidenum">
              <a:rPr lang="ru-RU" smtClean="0"/>
              <a:t>10</a:t>
            </a:fld>
            <a:endParaRPr lang="ru-RU"/>
          </a:p>
        </p:txBody>
      </p:sp>
      <p:sp>
        <p:nvSpPr>
          <p:cNvPr id="14" name="Arrow1"/>
          <p:cNvSpPr/>
          <p:nvPr/>
        </p:nvSpPr>
        <p:spPr>
          <a:xfrm>
            <a:off x="6050000" y="2400000"/>
            <a:ext cx="345224" cy="30000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Arrow1"/>
          <p:cNvSpPr/>
          <p:nvPr/>
        </p:nvSpPr>
        <p:spPr>
          <a:xfrm>
            <a:off x="8900612" y="2390688"/>
            <a:ext cx="345224" cy="300000"/>
          </a:xfrm>
          <a:prstGeom prst="rightArrow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33955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9352" y="171270"/>
            <a:ext cx="10515600" cy="664464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Подбор параметров поиска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9352" y="5572748"/>
            <a:ext cx="78120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Сравнительный анализ конфигураций поиска </a:t>
            </a:r>
            <a:r>
              <a:rPr lang="ru-RU" dirty="0"/>
              <a:t>по времени отклика </a:t>
            </a:r>
            <a:r>
              <a:rPr lang="ru-RU" dirty="0"/>
              <a:t>по метрикам качества ранжирования</a:t>
            </a:r>
            <a:r>
              <a:rPr lang="ru-RU" dirty="0"/>
              <a:t> </a:t>
            </a:r>
            <a:r>
              <a:rPr lang="ru-RU" dirty="0"/>
              <a:t>и классификации типа договора</a:t>
            </a:r>
            <a:r>
              <a:rPr lang="ru-RU" dirty="0"/>
              <a:t> </a:t>
            </a:r>
            <a:r>
              <a:rPr lang="ru-RU" dirty="0"/>
              <a:t>(значения метрик в </a:t>
            </a:r>
            <a:r>
              <a:rPr lang="ru-RU" dirty="0"/>
              <a:t>процентах</a:t>
            </a:r>
            <a:r>
              <a:rPr lang="ru-RU" dirty="0"/>
              <a:t>; </a:t>
            </a:r>
            <a:r>
              <a:rPr lang="ru-RU" dirty="0" err="1"/>
              <a:t>latency</a:t>
            </a:r>
            <a:r>
              <a:rPr lang="ru-RU" dirty="0"/>
              <a:t> </a:t>
            </a:r>
            <a:r>
              <a:rPr lang="ru-RU" dirty="0"/>
              <a:t>— в миллисекундах)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52" y="835734"/>
            <a:ext cx="7812024" cy="472959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95260" y="1371599"/>
            <a:ext cx="412546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Конфигурация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#1 —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бикодер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Giga-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-instruct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без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реранкера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без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фильтра.</a:t>
            </a:r>
          </a:p>
          <a:p>
            <a:pPr marL="342900" indent="-342900">
              <a:buFont typeface="+mj-lt"/>
              <a:buAutoNum type="arabicParenR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Конфигурация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#2 —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бикодер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Giga-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-instruct +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реранкер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BAAI/bge-reranker-v2-m3.</a:t>
            </a:r>
          </a:p>
          <a:p>
            <a:pPr marL="342900" indent="-342900">
              <a:buFont typeface="+mj-lt"/>
              <a:buAutoNum type="arabicParenR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Конфигурация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#3 —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бикодер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Giga-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-instruct +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реранкер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BAAI/bge-reranker-v2-m3 + LLM-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фильтр.</a:t>
            </a:r>
          </a:p>
          <a:p>
            <a:pPr marL="342900" indent="-342900">
              <a:buFont typeface="+mj-lt"/>
              <a:buAutoNum type="arabicParenR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Конфигурация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#4 —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бикодер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Giga-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-instruct +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реранкер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Qwen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/Qwen3-Reranker-0.6B.</a:t>
            </a:r>
          </a:p>
          <a:p>
            <a:pPr marL="342900" indent="-342900">
              <a:buFont typeface="+mj-lt"/>
              <a:buAutoNum type="arabicParenR"/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Конфигурация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#5 —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бикодер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Giga-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-instruct +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реранкер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Qwen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/Qwen3-Reranker-0.6B + LLM-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437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1648" y="179396"/>
            <a:ext cx="7421880" cy="1117664"/>
          </a:xfrm>
        </p:spPr>
        <p:txBody>
          <a:bodyPr>
            <a:normAutofit/>
          </a:bodyPr>
          <a:lstStyle/>
          <a:p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Подбор </a:t>
            </a:r>
            <a:r>
              <a:rPr lang="ru-RU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параметров 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поиска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502" r="66116"/>
          <a:stretch/>
        </p:blipFill>
        <p:spPr>
          <a:xfrm>
            <a:off x="230124" y="1297060"/>
            <a:ext cx="6477000" cy="4651496"/>
          </a:xfrm>
        </p:spPr>
      </p:pic>
      <p:pic>
        <p:nvPicPr>
          <p:cNvPr id="7" name="Объект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38" t="6841"/>
          <a:stretch/>
        </p:blipFill>
        <p:spPr>
          <a:xfrm>
            <a:off x="6548628" y="1297060"/>
            <a:ext cx="5329323" cy="39576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30124" y="5804241"/>
            <a:ext cx="647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Зависимость точности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precision@k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итоговой конфигурации от глубины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выдачи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48627" y="5527242"/>
            <a:ext cx="53293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Зависимость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доли попаданий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hit@k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итоговой конфигурации от глубины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выдачи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8839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858" y="157861"/>
            <a:ext cx="6296798" cy="6669024"/>
          </a:xfr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3256" y="157861"/>
            <a:ext cx="6763512" cy="628523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Подбор параметров поиска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1690688"/>
            <a:ext cx="402640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Распределение значений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precision@k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точности классификации итоговой конфигурации поиска по типам сделок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5253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96929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экспертной апробации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088" y="1062054"/>
            <a:ext cx="5309616" cy="5300632"/>
          </a:xfr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7420" y="1062054"/>
            <a:ext cx="5326380" cy="53173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6676" y="6244015"/>
            <a:ext cx="4401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 проекта договора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2552" y="6244015"/>
            <a:ext cx="44013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 юридических рекомендаций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8811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529" y="573658"/>
            <a:ext cx="10633055" cy="5750935"/>
          </a:xfrm>
        </p:spPr>
      </p:pic>
      <p:sp>
        <p:nvSpPr>
          <p:cNvPr id="5" name="TextBox 4"/>
          <p:cNvSpPr txBox="1"/>
          <p:nvPr/>
        </p:nvSpPr>
        <p:spPr>
          <a:xfrm>
            <a:off x="516529" y="6383900"/>
            <a:ext cx="106330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чата с диалогом: запрос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пользователя, уточняющий вопрос агента и ответ пользователя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15</a:t>
            </a:fld>
            <a:endParaRPr lang="ru-RU"/>
          </a:p>
        </p:txBody>
      </p:sp>
      <p:sp>
        <p:nvSpPr>
          <p:cNvPr id="6" name="Заголовок 1"/>
          <p:cNvSpPr txBox="1">
            <a:spLocks/>
          </p:cNvSpPr>
          <p:nvPr/>
        </p:nvSpPr>
        <p:spPr>
          <a:xfrm>
            <a:off x="0" y="0"/>
            <a:ext cx="4428744" cy="701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547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33177" y="6211669"/>
            <a:ext cx="105783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чата с готовыми юридическими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рекомендациями и ссылкой на скачивание сгенерированного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 договора</a:t>
            </a:r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03"/>
          <a:stretch/>
        </p:blipFill>
        <p:spPr>
          <a:xfrm>
            <a:off x="533176" y="593747"/>
            <a:ext cx="10578308" cy="5725850"/>
          </a:xfr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16</a:t>
            </a:fld>
            <a:endParaRPr lang="ru-RU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0" y="0"/>
            <a:ext cx="4428744" cy="701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</a:t>
            </a:r>
            <a:r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807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1690688"/>
            <a:ext cx="4581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Содержательная страница сгенерированного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проекта договора в формате DOCX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8206" y="-2690"/>
            <a:ext cx="5301442" cy="6860690"/>
          </a:xfrm>
          <a:prstGeom prst="rect">
            <a:avLst/>
          </a:prstGeom>
        </p:spPr>
      </p:pic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818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03473" y="6352143"/>
            <a:ext cx="7985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Административная панель управления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корпусом нормативных правовых актов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405" y="701675"/>
            <a:ext cx="9999188" cy="5416227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18</a:t>
            </a:fld>
            <a:endParaRPr lang="ru-RU"/>
          </a:p>
        </p:txBody>
      </p:sp>
      <p:sp>
        <p:nvSpPr>
          <p:cNvPr id="7" name="Заголовок 1"/>
          <p:cNvSpPr txBox="1">
            <a:spLocks/>
          </p:cNvSpPr>
          <p:nvPr/>
        </p:nvSpPr>
        <p:spPr>
          <a:xfrm>
            <a:off x="0" y="0"/>
            <a:ext cx="4428744" cy="701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6703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0" y="0"/>
            <a:ext cx="4428744" cy="701675"/>
          </a:xfrm>
        </p:spPr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997149" y="6356350"/>
            <a:ext cx="7985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Административная панель управления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корпусом нормативных правовых актов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316" y="701675"/>
            <a:ext cx="10032716" cy="5434388"/>
          </a:xfrm>
          <a:prstGeom prst="rect">
            <a:avLst/>
          </a:prstGeo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7832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094740"/>
          </a:xfrm>
        </p:spPr>
        <p:txBody>
          <a:bodyPr>
            <a:noAutofit/>
          </a:bodyPr>
          <a:lstStyle/>
          <a:p>
            <a:r>
              <a:rPr lang="ru-RU" alt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работы</a:t>
            </a:r>
            <a:endParaRPr lang="ru-RU" alt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9C1EAA17-F0DF-4F15-9558-5B5F6A368814}"/>
              </a:ext>
            </a:extLst>
          </p:cNvPr>
          <p:cNvSpPr txBox="1"/>
          <p:nvPr/>
        </p:nvSpPr>
        <p:spPr>
          <a:xfrm>
            <a:off x="387991" y="1353185"/>
            <a:ext cx="11416018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выполнения настоящей работы сформирован корпус нормативных правовых актов российского договорного права с реализованным поиском релевантных норм по словесному описанию сделки; спроектирован и реализован интеллектуальный агент, осуществляющий преобразование свободного описания сделки в проект договора и сопровождающие юридические рекомендации со ссылками на статьи нормативных правовых актов.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ru-RU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Проведена эмпирическая оценка качества поиска норм, по результатам которой обоснован выбор итоговой конфигурации подсистемы поиска; внешняя экспертная апробация подготовленных артефактов с привлечением практикующих юристов подтвердила практическую применимость предложенного подхода.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754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QR-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код </a:t>
            </a:r>
            <a:r>
              <a:rPr lang="ru-RU" sz="4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репозитория</a:t>
            </a:r>
            <a:r>
              <a:rPr lang="ru-RU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 кодом</a:t>
            </a:r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331" y="1825625"/>
            <a:ext cx="4351338" cy="4351338"/>
          </a:xfrm>
        </p:spPr>
      </p:pic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A3789A-D406-449F-860F-117B58A45219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594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1859</TotalTime>
  <Words>770</Words>
  <Application>Microsoft Office PowerPoint</Application>
  <PresentationFormat>Широкоэкранный</PresentationFormat>
  <Paragraphs>191</Paragraphs>
  <Slides>21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8" baseType="lpstr">
      <vt:lpstr>Arial Unicode MS</vt:lpstr>
      <vt:lpstr>Arial</vt:lpstr>
      <vt:lpstr>Arial Narrow</vt:lpstr>
      <vt:lpstr>Calibri</vt:lpstr>
      <vt:lpstr>Calibri Light</vt:lpstr>
      <vt:lpstr>Times New Roman</vt:lpstr>
      <vt:lpstr>Тема Office</vt:lpstr>
      <vt:lpstr>Выпускная квалификационная работа бакалавра на тему: «Интеллектуальный агент для подготовки гражданско-правовых договоров»</vt:lpstr>
      <vt:lpstr>Актуальность темы</vt:lpstr>
      <vt:lpstr>Цель и задачи работы</vt:lpstr>
      <vt:lpstr>Используемые модели и датасеты</vt:lpstr>
      <vt:lpstr>Выбор LLM</vt:lpstr>
      <vt:lpstr>Выбор LLM</vt:lpstr>
      <vt:lpstr>Выбор эмбеддинг модели</vt:lpstr>
      <vt:lpstr>Стек технологий</vt:lpstr>
      <vt:lpstr>Архитектура решения</vt:lpstr>
      <vt:lpstr>Подсистема RAG: поиск</vt:lpstr>
      <vt:lpstr>Подбор параметров поиска</vt:lpstr>
      <vt:lpstr>Подбор параметров поиска</vt:lpstr>
      <vt:lpstr>Подбор параметров поиска</vt:lpstr>
      <vt:lpstr>Результаты экспертной апробации</vt:lpstr>
      <vt:lpstr>Презентация PowerPoint</vt:lpstr>
      <vt:lpstr>Презентация PowerPoint</vt:lpstr>
      <vt:lpstr>Демонстрация UI</vt:lpstr>
      <vt:lpstr>Презентация PowerPoint</vt:lpstr>
      <vt:lpstr>Демонстрация UI</vt:lpstr>
      <vt:lpstr>Результаты работы</vt:lpstr>
      <vt:lpstr>QR-код репозитория с кодом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Выпускная квалификационная работа бакалавра на тему: «Интеллектуальный агент для подготовки гражданско-правовых договоров»</dc:title>
  <dc:creator>WARMACHINE</dc:creator>
  <cp:lastModifiedBy>WARMACHINE</cp:lastModifiedBy>
  <cp:revision>63</cp:revision>
  <dcterms:created xsi:type="dcterms:W3CDTF">2026-05-18T12:48:10Z</dcterms:created>
  <dcterms:modified xsi:type="dcterms:W3CDTF">2026-05-25T18:59:55Z</dcterms:modified>
</cp:coreProperties>
</file>